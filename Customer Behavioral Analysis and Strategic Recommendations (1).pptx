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old Ink" charset="1" panose="00000500000000000000"/>
      <p:regular r:id="rId25"/>
    </p:embeddedFont>
    <p:embeddedFont>
      <p:font typeface="Akzidenz-Grotesk Bold" charset="1" panose="02000803050000020004"/>
      <p:regular r:id="rId26"/>
    </p:embeddedFont>
    <p:embeddedFont>
      <p:font typeface="Akzidenz-Grotesk" charset="1" panose="020005030300000200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15177" y="7433767"/>
            <a:ext cx="9430353" cy="4715177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456827" y="10338182"/>
            <a:ext cx="4661316" cy="2330658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523783" y="-1710194"/>
            <a:ext cx="9430353" cy="4715177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5583791" y="-2142757"/>
            <a:ext cx="4661316" cy="2330658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4067202" y="9359478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166334" y="-824125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21841" y="2071243"/>
            <a:ext cx="14694301" cy="328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9834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CUSTOMER SATISFACTION SURVEY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75281" y="5156358"/>
            <a:ext cx="10187420" cy="36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4"/>
              </a:lnSpc>
            </a:pPr>
            <a:r>
              <a:rPr lang="en-US" sz="5082" b="true">
                <a:solidFill>
                  <a:srgbClr val="61654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Subtitle</a:t>
            </a:r>
            <a:r>
              <a:rPr lang="en-US" sz="5082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: A Comprehensive Overview of Key Insights, Trends, and Recommendations</a:t>
            </a:r>
          </a:p>
          <a:p>
            <a:pPr algn="ctr">
              <a:lnSpc>
                <a:spcPts val="7114"/>
              </a:lnSpc>
              <a:spcBef>
                <a:spcPct val="0"/>
              </a:spcBef>
            </a:pPr>
            <a:r>
              <a:rPr lang="en-US" sz="5082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Date: [08/01/2025]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52329" y="1323975"/>
            <a:ext cx="10540477" cy="107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4"/>
              </a:lnSpc>
            </a:pPr>
            <a:r>
              <a:rPr lang="en-US" sz="90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INTRODUCTION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56407" y="2685752"/>
            <a:ext cx="13213080" cy="416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8150" indent="-419075" lvl="1">
              <a:lnSpc>
                <a:spcPts val="5434"/>
              </a:lnSpc>
              <a:buFont typeface="Arial"/>
              <a:buChar char="•"/>
            </a:pPr>
            <a:r>
              <a:rPr lang="en-US" sz="3882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Objective: Understand customer satisfaction levels and identify key pain points.</a:t>
            </a:r>
          </a:p>
          <a:p>
            <a:pPr algn="l" marL="838150" indent="-419075" lvl="1">
              <a:lnSpc>
                <a:spcPts val="5434"/>
              </a:lnSpc>
              <a:buFont typeface="Arial"/>
              <a:buChar char="•"/>
            </a:pPr>
            <a:r>
              <a:rPr lang="en-US" sz="3882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Scope: Analyze survey data, sentiment, trends, and demographics.</a:t>
            </a:r>
          </a:p>
          <a:p>
            <a:pPr algn="l" marL="838150" indent="-419075" lvl="1">
              <a:lnSpc>
                <a:spcPts val="5434"/>
              </a:lnSpc>
              <a:spcBef>
                <a:spcPct val="0"/>
              </a:spcBef>
              <a:buFont typeface="Arial"/>
              <a:buChar char="•"/>
            </a:pPr>
            <a:r>
              <a:rPr lang="en-US" sz="3882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Outcome: Actionable recommendations for improving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473325" y="1171223"/>
            <a:ext cx="10931673" cy="8958553"/>
          </a:xfrm>
          <a:custGeom>
            <a:avLst/>
            <a:gdLst/>
            <a:ahLst/>
            <a:cxnLst/>
            <a:rect r="r" b="b" t="t" l="l"/>
            <a:pathLst>
              <a:path h="8958553" w="10931673">
                <a:moveTo>
                  <a:pt x="0" y="0"/>
                </a:moveTo>
                <a:lnTo>
                  <a:pt x="10931672" y="0"/>
                </a:lnTo>
                <a:lnTo>
                  <a:pt x="10931672" y="8958553"/>
                </a:lnTo>
                <a:lnTo>
                  <a:pt x="0" y="895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1" t="0" r="-82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49297" y="136157"/>
            <a:ext cx="13092642" cy="11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500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ANALYZE CUSTOMER SATISFACTION SCORES BY REGION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473325" y="1449070"/>
            <a:ext cx="11316157" cy="8756132"/>
          </a:xfrm>
          <a:custGeom>
            <a:avLst/>
            <a:gdLst/>
            <a:ahLst/>
            <a:cxnLst/>
            <a:rect r="r" b="b" t="t" l="l"/>
            <a:pathLst>
              <a:path h="8756132" w="11316157">
                <a:moveTo>
                  <a:pt x="0" y="0"/>
                </a:moveTo>
                <a:lnTo>
                  <a:pt x="11316156" y="0"/>
                </a:lnTo>
                <a:lnTo>
                  <a:pt x="11316156" y="8756132"/>
                </a:lnTo>
                <a:lnTo>
                  <a:pt x="0" y="8756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10926" y="171450"/>
            <a:ext cx="13385538" cy="127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COMPARE SATISFACTION SCORES FOR REPEAT VS. NEW CUSTOMERS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926918" y="2434834"/>
            <a:ext cx="12513412" cy="7852166"/>
          </a:xfrm>
          <a:custGeom>
            <a:avLst/>
            <a:gdLst/>
            <a:ahLst/>
            <a:cxnLst/>
            <a:rect r="r" b="b" t="t" l="l"/>
            <a:pathLst>
              <a:path h="7852166" w="12513412">
                <a:moveTo>
                  <a:pt x="0" y="0"/>
                </a:moveTo>
                <a:lnTo>
                  <a:pt x="12513412" y="0"/>
                </a:lnTo>
                <a:lnTo>
                  <a:pt x="12513412" y="7852166"/>
                </a:lnTo>
                <a:lnTo>
                  <a:pt x="0" y="785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73325" y="1008211"/>
            <a:ext cx="13029267" cy="145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  <a:r>
              <a:rPr lang="en-US" sz="6399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VISUALIZE SENTIMENT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205361" y="2613340"/>
            <a:ext cx="14297230" cy="7341821"/>
          </a:xfrm>
          <a:custGeom>
            <a:avLst/>
            <a:gdLst/>
            <a:ahLst/>
            <a:cxnLst/>
            <a:rect r="r" b="b" t="t" l="l"/>
            <a:pathLst>
              <a:path h="7341821" w="14297230">
                <a:moveTo>
                  <a:pt x="0" y="0"/>
                </a:moveTo>
                <a:lnTo>
                  <a:pt x="14297231" y="0"/>
                </a:lnTo>
                <a:lnTo>
                  <a:pt x="14297231" y="7341821"/>
                </a:lnTo>
                <a:lnTo>
                  <a:pt x="0" y="734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73325" y="970111"/>
            <a:ext cx="13029267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480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VISUALIZE SATISFACTION TRENDS OVER TIME</a:t>
            </a:r>
          </a:p>
          <a:p>
            <a:pPr algn="l">
              <a:lnSpc>
                <a:spcPts val="4079"/>
              </a:lnSpc>
            </a:pPr>
            <a:r>
              <a:rPr lang="en-US" sz="480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*</a:t>
            </a:r>
            <a:r>
              <a:rPr lang="en-US" sz="480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 Line Plot for Satisfaction Trends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72259" y="2228464"/>
            <a:ext cx="14786474" cy="7249679"/>
          </a:xfrm>
          <a:custGeom>
            <a:avLst/>
            <a:gdLst/>
            <a:ahLst/>
            <a:cxnLst/>
            <a:rect r="r" b="b" t="t" l="l"/>
            <a:pathLst>
              <a:path h="7249679" w="14786474">
                <a:moveTo>
                  <a:pt x="0" y="0"/>
                </a:moveTo>
                <a:lnTo>
                  <a:pt x="14786474" y="0"/>
                </a:lnTo>
                <a:lnTo>
                  <a:pt x="14786474" y="7249679"/>
                </a:lnTo>
                <a:lnTo>
                  <a:pt x="0" y="7249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73325" y="960586"/>
            <a:ext cx="13029267" cy="108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4799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IDENTIFY ANOMALIES IN SATISFACTION SCORES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988001" y="1832232"/>
            <a:ext cx="14311999" cy="8080528"/>
          </a:xfrm>
          <a:custGeom>
            <a:avLst/>
            <a:gdLst/>
            <a:ahLst/>
            <a:cxnLst/>
            <a:rect r="r" b="b" t="t" l="l"/>
            <a:pathLst>
              <a:path h="8080528" w="14311999">
                <a:moveTo>
                  <a:pt x="0" y="0"/>
                </a:moveTo>
                <a:lnTo>
                  <a:pt x="14311998" y="0"/>
                </a:lnTo>
                <a:lnTo>
                  <a:pt x="14311998" y="8080529"/>
                </a:lnTo>
                <a:lnTo>
                  <a:pt x="0" y="8080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73325" y="1027261"/>
            <a:ext cx="13029267" cy="80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7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VISUALIZE ISSUE CATEGORIES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911128" y="2427860"/>
            <a:ext cx="12894986" cy="8087280"/>
          </a:xfrm>
          <a:custGeom>
            <a:avLst/>
            <a:gdLst/>
            <a:ahLst/>
            <a:cxnLst/>
            <a:rect r="r" b="b" t="t" l="l"/>
            <a:pathLst>
              <a:path h="8087280" w="12894986">
                <a:moveTo>
                  <a:pt x="0" y="0"/>
                </a:moveTo>
                <a:lnTo>
                  <a:pt x="12894986" y="0"/>
                </a:lnTo>
                <a:lnTo>
                  <a:pt x="12894986" y="8087279"/>
                </a:lnTo>
                <a:lnTo>
                  <a:pt x="0" y="808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1" t="0" r="-1954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73325" y="875932"/>
            <a:ext cx="13029267" cy="168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4"/>
              </a:lnSpc>
            </a:pPr>
            <a:r>
              <a:rPr lang="en-US" sz="74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ANALYZE SATISFACTION BY AGE GROUP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332288" y="2208221"/>
            <a:ext cx="12362798" cy="8078779"/>
          </a:xfrm>
          <a:custGeom>
            <a:avLst/>
            <a:gdLst/>
            <a:ahLst/>
            <a:cxnLst/>
            <a:rect r="r" b="b" t="t" l="l"/>
            <a:pathLst>
              <a:path h="8078779" w="12362798">
                <a:moveTo>
                  <a:pt x="0" y="0"/>
                </a:moveTo>
                <a:lnTo>
                  <a:pt x="12362798" y="0"/>
                </a:lnTo>
                <a:lnTo>
                  <a:pt x="12362798" y="8078779"/>
                </a:lnTo>
                <a:lnTo>
                  <a:pt x="0" y="8078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73234" y="335009"/>
            <a:ext cx="13029267" cy="242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4"/>
              </a:lnSpc>
            </a:pPr>
            <a:r>
              <a:rPr lang="en-US" sz="60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SEGMENT BY REGION</a:t>
            </a:r>
          </a:p>
          <a:p>
            <a:pPr algn="l">
              <a:lnSpc>
                <a:spcPts val="5144"/>
              </a:lnSpc>
            </a:pPr>
            <a:r>
              <a:rPr lang="en-US" sz="60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Analyze Satisfaction by Region</a:t>
            </a:r>
          </a:p>
          <a:p>
            <a:pPr algn="l">
              <a:lnSpc>
                <a:spcPts val="356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052734" y="2630173"/>
            <a:ext cx="14182531" cy="7656827"/>
          </a:xfrm>
          <a:custGeom>
            <a:avLst/>
            <a:gdLst/>
            <a:ahLst/>
            <a:cxnLst/>
            <a:rect r="r" b="b" t="t" l="l"/>
            <a:pathLst>
              <a:path h="7656827" w="14182531">
                <a:moveTo>
                  <a:pt x="0" y="0"/>
                </a:moveTo>
                <a:lnTo>
                  <a:pt x="14182532" y="0"/>
                </a:lnTo>
                <a:lnTo>
                  <a:pt x="14182532" y="7656827"/>
                </a:lnTo>
                <a:lnTo>
                  <a:pt x="0" y="7656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919496" y="376489"/>
            <a:ext cx="13029267" cy="207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62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SENTIMENT DISTRIBUTION ACROSS DEMOGRAPHICS</a:t>
            </a:r>
          </a:p>
          <a:p>
            <a:pPr algn="l">
              <a:lnSpc>
                <a:spcPts val="5229"/>
              </a:lnSpc>
            </a:pPr>
            <a:r>
              <a:rPr lang="en-US" sz="61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Sentiment by Age Group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609978" y="1161260"/>
            <a:ext cx="14195595" cy="9125740"/>
          </a:xfrm>
          <a:custGeom>
            <a:avLst/>
            <a:gdLst/>
            <a:ahLst/>
            <a:cxnLst/>
            <a:rect r="r" b="b" t="t" l="l"/>
            <a:pathLst>
              <a:path h="9125740" w="14195595">
                <a:moveTo>
                  <a:pt x="0" y="0"/>
                </a:moveTo>
                <a:lnTo>
                  <a:pt x="14195595" y="0"/>
                </a:lnTo>
                <a:lnTo>
                  <a:pt x="14195595" y="9125740"/>
                </a:lnTo>
                <a:lnTo>
                  <a:pt x="0" y="9125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230033" y="323904"/>
            <a:ext cx="13029267" cy="83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70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SENTIMENT BY GENDER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5377" y="2313674"/>
            <a:ext cx="18157245" cy="6394893"/>
          </a:xfrm>
          <a:custGeom>
            <a:avLst/>
            <a:gdLst/>
            <a:ahLst/>
            <a:cxnLst/>
            <a:rect r="r" b="b" t="t" l="l"/>
            <a:pathLst>
              <a:path h="6394893" w="18157245">
                <a:moveTo>
                  <a:pt x="0" y="0"/>
                </a:moveTo>
                <a:lnTo>
                  <a:pt x="18157246" y="0"/>
                </a:lnTo>
                <a:lnTo>
                  <a:pt x="18157246" y="6394893"/>
                </a:lnTo>
                <a:lnTo>
                  <a:pt x="0" y="639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73325" y="678703"/>
            <a:ext cx="13029267" cy="142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62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DEMOGRAPHIC ANALYSIS</a:t>
            </a:r>
          </a:p>
          <a:p>
            <a:pPr algn="l">
              <a:lnSpc>
                <a:spcPts val="5314"/>
              </a:lnSpc>
            </a:pPr>
            <a:r>
              <a:rPr lang="en-US" sz="62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Satisfaction by Age Group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0" y="1899707"/>
            <a:ext cx="18288000" cy="5989674"/>
          </a:xfrm>
          <a:custGeom>
            <a:avLst/>
            <a:gdLst/>
            <a:ahLst/>
            <a:cxnLst/>
            <a:rect r="r" b="b" t="t" l="l"/>
            <a:pathLst>
              <a:path h="5989674" w="18288000">
                <a:moveTo>
                  <a:pt x="0" y="0"/>
                </a:moveTo>
                <a:lnTo>
                  <a:pt x="18288000" y="0"/>
                </a:lnTo>
                <a:lnTo>
                  <a:pt x="18288000" y="5989675"/>
                </a:lnTo>
                <a:lnTo>
                  <a:pt x="0" y="598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0" y="2107287"/>
            <a:ext cx="18288000" cy="6240780"/>
          </a:xfrm>
          <a:custGeom>
            <a:avLst/>
            <a:gdLst/>
            <a:ahLst/>
            <a:cxnLst/>
            <a:rect r="r" b="b" t="t" l="l"/>
            <a:pathLst>
              <a:path h="6240780" w="18288000">
                <a:moveTo>
                  <a:pt x="0" y="0"/>
                </a:moveTo>
                <a:lnTo>
                  <a:pt x="18288000" y="0"/>
                </a:lnTo>
                <a:lnTo>
                  <a:pt x="18288000" y="6240780"/>
                </a:lnTo>
                <a:lnTo>
                  <a:pt x="0" y="624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84348" y="727478"/>
            <a:ext cx="11701912" cy="9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9"/>
              </a:lnSpc>
            </a:pPr>
            <a:r>
              <a:rPr lang="en-US" sz="7952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RECOMMENDATIONS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30915" y="1751695"/>
            <a:ext cx="11855346" cy="750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1).Improve Delivery Timelines: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Implement advanced logistics tracking systems.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Partner with reliable delivery service providers.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Optimize warehouse management for faster dispatch.</a:t>
            </a:r>
          </a:p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2)</a:t>
            </a: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Enhance Product Quality: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Introduce stricter quality control processes.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Regular audits on high-return products.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Collaborate with suppliers for quality assurance.</a:t>
            </a:r>
          </a:p>
          <a:p>
            <a:pPr algn="l">
              <a:lnSpc>
                <a:spcPts val="4533"/>
              </a:lnSpc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3)</a:t>
            </a: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Strengthen Customer Support Services: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Invest in staff training for better query resolution.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Increase availability of live support agents during peak hours.</a:t>
            </a:r>
          </a:p>
          <a:p>
            <a:pPr algn="l" marL="699113" indent="-349557" lvl="1">
              <a:lnSpc>
                <a:spcPts val="4533"/>
              </a:lnSpc>
              <a:buFont typeface="Arial"/>
              <a:buChar char="•"/>
            </a:pPr>
            <a:r>
              <a:rPr lang="en-US" sz="3238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Implement automated chat support for common inquiries.</a:t>
            </a:r>
          </a:p>
          <a:p>
            <a:pPr algn="l">
              <a:lnSpc>
                <a:spcPts val="4533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572345" y="166963"/>
            <a:ext cx="8392013" cy="965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2"/>
              </a:lnSpc>
            </a:pPr>
            <a:r>
              <a:rPr lang="en-US" sz="2980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4) Focus on Customer Feedback Integration: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Regularly monitor and address recurring complaints.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Use AI tools for real-time sentiment analysis.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Create a feedback acknowledgment and follow-up system.</a:t>
            </a:r>
          </a:p>
          <a:p>
            <a:pPr algn="l">
              <a:lnSpc>
                <a:spcPts val="4044"/>
              </a:lnSpc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5) </a:t>
            </a: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Target Demographic-Specific Improvements: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Address age group-specific satisfaction issues.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Offer tailored promotions and experiences for different customer groups.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Study regional trends and address location-based concerns.</a:t>
            </a:r>
          </a:p>
          <a:p>
            <a:pPr algn="l">
              <a:lnSpc>
                <a:spcPts val="4044"/>
              </a:lnSpc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6) </a:t>
            </a: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Encourage Customer Engagement: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Reward customers for survey participation.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Host webinars or Q&amp;A sessions for customer concerns.</a:t>
            </a:r>
          </a:p>
          <a:p>
            <a:pPr algn="l" marL="623748" indent="-311874" lvl="1">
              <a:lnSpc>
                <a:spcPts val="4044"/>
              </a:lnSpc>
              <a:buFont typeface="Arial"/>
              <a:buChar char="•"/>
            </a:pPr>
            <a:r>
              <a:rPr lang="en-US" sz="2889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Create community forums for product discussions.</a:t>
            </a:r>
          </a:p>
          <a:p>
            <a:pPr algn="ctr">
              <a:lnSpc>
                <a:spcPts val="40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73325" y="734647"/>
            <a:ext cx="10540477" cy="11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9"/>
              </a:lnSpc>
            </a:pPr>
            <a:r>
              <a:rPr lang="en-US" sz="9351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69290" y="1721843"/>
            <a:ext cx="10822617" cy="824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256" indent="-332628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survey analysis revealed key insights into customer satisfaction trends, recurring complaints, and demographic preferences.</a:t>
            </a:r>
          </a:p>
          <a:p>
            <a:pPr algn="l" marL="665256" indent="-332628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Major concerns included delivery delays, product quality issues, and inconsistent customer service experiences.</a:t>
            </a:r>
          </a:p>
          <a:p>
            <a:pPr algn="l" marL="665256" indent="-332628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Despite these issues, positive sentiment dominated overall feedback, indicating strong brand loyalty among satisfied customers.</a:t>
            </a:r>
          </a:p>
          <a:p>
            <a:pPr algn="l" marL="665256" indent="-332628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Addressing the highlighted areas of concern will lead to improved customer satisfaction, enhanced loyalty, and better overall business performance.</a:t>
            </a:r>
          </a:p>
          <a:p>
            <a:pPr algn="l" marL="665256" indent="-332628" lvl="1">
              <a:lnSpc>
                <a:spcPts val="4313"/>
              </a:lnSpc>
              <a:buFont typeface="Arial"/>
              <a:buChar char="•"/>
            </a:pPr>
            <a:r>
              <a:rPr lang="en-US" sz="3081">
                <a:solidFill>
                  <a:srgbClr val="61654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Continuous monitoring, effective communication, and prompt implementation of recommendations are essential for long-term success.</a:t>
            </a:r>
          </a:p>
          <a:p>
            <a:pPr algn="l">
              <a:lnSpc>
                <a:spcPts val="431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62626">
            <a:off x="-4763849" y="7784323"/>
            <a:ext cx="8132490" cy="4066245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62626">
            <a:off x="-1091559" y="10289015"/>
            <a:ext cx="4019797" cy="2009899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62626">
            <a:off x="15760647" y="-1537845"/>
            <a:ext cx="8664509" cy="4332254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562626">
            <a:off x="16327816" y="-2285619"/>
            <a:ext cx="4282768" cy="2141384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562626">
            <a:off x="13101516" y="9777072"/>
            <a:ext cx="3710089" cy="1855044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2626">
            <a:off x="1610027" y="-1189519"/>
            <a:ext cx="3726595" cy="1863298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029631" y="3439211"/>
            <a:ext cx="12228738" cy="398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09"/>
              </a:lnSpc>
            </a:pPr>
            <a:r>
              <a:rPr lang="en-US" sz="1754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THANK</a:t>
            </a:r>
          </a:p>
          <a:p>
            <a:pPr algn="ctr">
              <a:lnSpc>
                <a:spcPts val="14909"/>
              </a:lnSpc>
            </a:pPr>
            <a:r>
              <a:rPr lang="en-US" sz="17540">
                <a:solidFill>
                  <a:srgbClr val="545454"/>
                </a:solidFill>
                <a:latin typeface="Bold Ink"/>
                <a:ea typeface="Bold Ink"/>
                <a:cs typeface="Bold Ink"/>
                <a:sym typeface="Bold Ink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DAGaTmZjR9U</dc:identifier>
  <dcterms:modified xsi:type="dcterms:W3CDTF">2011-08-01T06:04:30Z</dcterms:modified>
  <cp:revision>1</cp:revision>
  <dc:title>Customer Behavioral Analysis and Strategic Recommendations</dc:title>
</cp:coreProperties>
</file>